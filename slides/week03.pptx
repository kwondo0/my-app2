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566928" cy="566928"/>
          </a:xfrm>
          <a:prstGeom prst="ellipse">
            <a:avLst/>
          </a:prstGeom>
          <a:solidFill>
            <a:srgbClr val="06B6D4">
              <a:alpha val="2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143" y="684703"/>
            <a:ext cx="294803" cy="294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3317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템플릿 설치 &amp; 구조 이해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→ 실행 → 첫 배포까지, 오늘 한 사이클을 완주합니다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3주차 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템플릿 프로젝트 설치·구조 이해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정보보호학과  ·  중부대학교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다룰 내용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주부터 직접 코드를 작성합니다 — 오늘 만든 프로젝트가 앞으로 12주간의 출발점입니다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3주차 · Next.js 템플릿 프로젝트 설치·구조 이해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2223821"/>
            <a:ext cx="261518" cy="26151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08483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create-next-app 실행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251960" y="208483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16 + TypeScript + Tailwind v4 템플릿 설치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315468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1" y="327538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313639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구조 이해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251960" y="313639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app/ 폴더, 설정 파일들이 각각 어떤 역할을 하는지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420624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432694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71600" y="418795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File-based Routing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4251960" y="418795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 구조가 곧 URL 구조가 되는 App Router의 규칙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40080" y="525780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5378501"/>
            <a:ext cx="261518" cy="26151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71600" y="52395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Server / Client Component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4251960" y="523951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기본값은 서버, “use client”로 경계를 직접 표시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create-next-app으로 템플릿 설치하기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터미널에서 한 줄이면 Next.js 16 프로젝트가 만들어집니다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3주차 · Next.js 템플릿 프로젝트 설치·구조 이해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10515600" cy="4023360"/>
          </a:xfrm>
          <a:prstGeom prst="roundRect">
            <a:avLst>
              <a:gd name="adj" fmla="val 1818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5400000">
              <a:srgbClr val="0F172A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167128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Shape 5"/>
          <p:cNvSpPr/>
          <p:nvPr/>
        </p:nvSpPr>
        <p:spPr>
          <a:xfrm>
            <a:off x="1152144" y="216712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1408176" y="2167128"/>
            <a:ext cx="128016" cy="128016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093976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32688" y="25146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create-next-app@latest my-app \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32688" y="288036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--typescript --tailwind --eslint --app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32688" y="36118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Would you like to use Turbopack? </a:t>
            </a:r>
            <a:pPr indent="0" marL="0">
              <a:buNone/>
            </a:pPr>
            <a:r>
              <a:rPr lang="en-US" sz="135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32688" y="397764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Would you like your code inside a src/ directory? </a:t>
            </a:r>
            <a:pPr indent="0" marL="0">
              <a:buNone/>
            </a:pPr>
            <a:r>
              <a:rPr lang="en-US" sz="135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32688" y="43434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What import alias would you like configured? </a:t>
            </a:r>
            <a:pPr indent="0" marL="0">
              <a:buNone/>
            </a:pPr>
            <a:r>
              <a:rPr lang="en-US" sz="135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@/*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32688" y="507492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Success! Created my-app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구조 한눈에 보기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중 오늘 자주 열어볼 곳은 app/ 폴더입니다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3주차 · Next.js 템플릿 프로젝트 설치·구조 이해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457200" cy="45720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212848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208483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app/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206240" y="208483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페이지·레이아웃·라우팅이 모두 여기에 — 이 강의에서 가장 많이 다룰 폴더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2971800"/>
            <a:ext cx="457200" cy="45720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0815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25880" y="295351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app/layout.tsx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206240" y="295351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페이지를 감싸는 루트 레이아웃 (&lt;html&gt;, &lt;body&gt;는 여기에만)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3840480"/>
            <a:ext cx="457200" cy="45720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950208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25880" y="38221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app/page.tsx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4206240" y="382219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"/" 경로에 해당하는 홈페이지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40080" y="4709160"/>
            <a:ext cx="457200" cy="45720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4818888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25880" y="46908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app/globals.css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4206240" y="469087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Tailwind v4를 불러오는 전역 스타일 (CSS-first 설정)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40080" y="5577840"/>
            <a:ext cx="457200" cy="45720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5687568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325880" y="55595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package.json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4206240" y="555955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/ react / tailwindcss 등 의존성 버전이 여기 기록됨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File-based Routing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폴더를 만들고 그 안에 page.tsx를 두면, 폴더 이름이 곧 URL이 됩니다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3주차 · Next.js 템플릿 프로젝트 설치·구조 이해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2406701"/>
            <a:ext cx="261518" cy="26151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2677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app/page.tsx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715000" y="2267712"/>
            <a:ext cx="5440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 /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333756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1" y="345826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331927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app/about/page.tsx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5715000" y="3319272"/>
            <a:ext cx="5440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 /about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438912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450982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71600" y="437083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app/products/[id]/page.tsx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5715000" y="4370832"/>
            <a:ext cx="5440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 /products/123  (동적 라우팅, 4주차에서 다룸)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실습에서는 app/about 폴더를 직접 만들어 두 번째 페이지를 추가해봅니다.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기본값은 Server Component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app/page.tsx — 별다른 표시가 없으면 이 컴포넌트는 서버에서만 실행됩니다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3주차 · Next.js 템플릿 프로젝트 설치·구조 이해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6675120" cy="4023360"/>
          </a:xfrm>
          <a:prstGeom prst="roundRect">
            <a:avLst>
              <a:gd name="adj" fmla="val 1818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5400000">
              <a:srgbClr val="0F172A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167128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Shape 5"/>
          <p:cNvSpPr/>
          <p:nvPr/>
        </p:nvSpPr>
        <p:spPr>
          <a:xfrm>
            <a:off x="1152144" y="216712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1408176" y="2167128"/>
            <a:ext cx="128016" cy="128016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093976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app/page.tsx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32688" y="251460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function Home() {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32688" y="2843784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32688" y="317296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&lt;main&gt;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32688" y="350215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&lt;h1&gt;웹서버보안프로그래밍&lt;/h1&gt;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32688" y="383133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&lt;Counter /&gt;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32688" y="416052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&lt;/main&gt;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32688" y="4489704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32688" y="481888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635240" y="196596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1F5F9"/>
          </a:solidFill>
          <a:ln/>
        </p:spPr>
      </p:sp>
      <p:sp>
        <p:nvSpPr>
          <p:cNvPr id="19" name="Shape 17"/>
          <p:cNvSpPr/>
          <p:nvPr/>
        </p:nvSpPr>
        <p:spPr>
          <a:xfrm>
            <a:off x="7909560" y="2240280"/>
            <a:ext cx="457200" cy="45720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19288" y="2350008"/>
            <a:ext cx="237744" cy="237744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909560" y="2834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서버에서 실행되는 이유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7909560" y="3291840"/>
            <a:ext cx="3611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맨 위에 "use client"가 없음
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브라우저로는 완성된 HTML만 전달
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접속, 시크릿 사용도 안전 (13주차 보안과 직결)
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useState 같은 브라우저 전용 기능은 못 씀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"use client"가 필요한 순간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components/Counter.tsx — 버튼 클릭 같은 상호작용이 필요하면 명시적으로 표시합니다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3주차 · Next.js 템플릿 프로젝트 설치·구조 이해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6675120" cy="4023360"/>
          </a:xfrm>
          <a:prstGeom prst="roundRect">
            <a:avLst>
              <a:gd name="adj" fmla="val 1818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5400000">
              <a:srgbClr val="0F172A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167128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Shape 5"/>
          <p:cNvSpPr/>
          <p:nvPr/>
        </p:nvSpPr>
        <p:spPr>
          <a:xfrm>
            <a:off x="1152144" y="216712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1408176" y="2167128"/>
            <a:ext cx="128016" cy="128016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093976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components/Counter.tsx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32688" y="251460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"use client"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32688" y="317296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useState } </a:t>
            </a:r>
            <a:pPr indent="0" marL="0">
              <a:buNone/>
            </a:pPr>
            <a:r>
              <a:rPr lang="en-US" sz="125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</a:t>
            </a:r>
            <a:pPr indent="0" marL="0">
              <a:buNone/>
            </a:pPr>
            <a:r>
              <a:rPr lang="en-US" sz="125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"react"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32688" y="383133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function </a:t>
            </a:r>
            <a:pPr indent="0" marL="0">
              <a:buNone/>
            </a:pPr>
            <a:r>
              <a:rPr lang="en-US" sz="12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Counter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32688" y="416052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[count, setCount] = useState(0)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32688" y="4489704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32688" y="481888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&lt;button onClick={() =&gt; setCount(count+1)}&gt;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32688" y="514807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{count}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32688" y="547725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&lt;/button&gt;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32688" y="58064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32688" y="6135624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635240" y="196596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1F5F9"/>
          </a:solidFill>
          <a:ln/>
        </p:spPr>
      </p:sp>
      <p:sp>
        <p:nvSpPr>
          <p:cNvPr id="21" name="Shape 19"/>
          <p:cNvSpPr/>
          <p:nvPr/>
        </p:nvSpPr>
        <p:spPr>
          <a:xfrm>
            <a:off x="7909560" y="2240280"/>
            <a:ext cx="457200" cy="45720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19288" y="2350008"/>
            <a:ext cx="237744" cy="237744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7909560" y="2834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기준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7909560" y="3291840"/>
            <a:ext cx="3611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useState/useEffect를 쓰나요?
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onClick 같은 이벤트가 필요한가요?
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 API(localStorage 등)를 쓰나요?
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하나라도 그렇다면 "use client"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6B6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803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만든 프로젝트, 세상에 공개하기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703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push 한 번으로 Vercel이 자동으로 배포합니다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Vercel로 첫 배포하기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레포와 연결하면, 이후 push할 때마다 자동으로 재배포됩니다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3주차 · Next.js 템플릿 프로젝트 설치·구조 이해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2478024" cy="3108960"/>
          </a:xfrm>
          <a:prstGeom prst="roundRect">
            <a:avLst>
              <a:gd name="adj" fmla="val 369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595628" y="2423160"/>
            <a:ext cx="566928" cy="56692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1691" y="2559223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200400"/>
            <a:ext cx="2478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GitHub push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31520" y="3611880"/>
            <a:ext cx="22951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프로젝트를 Organization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레포로 push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3118104" y="3291840"/>
            <a:ext cx="201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3319272" y="2103120"/>
            <a:ext cx="2478024" cy="3108960"/>
          </a:xfrm>
          <a:prstGeom prst="roundRect">
            <a:avLst>
              <a:gd name="adj" fmla="val 369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274820" y="2423160"/>
            <a:ext cx="566928" cy="56692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0883" y="2559223"/>
            <a:ext cx="294803" cy="29480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319272" y="3200400"/>
            <a:ext cx="2478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Vercel Import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3410712" y="3611880"/>
            <a:ext cx="22951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vercel.com에서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레포 가져오기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5797296" y="3291840"/>
            <a:ext cx="201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5998464" y="2103120"/>
            <a:ext cx="2478024" cy="3108960"/>
          </a:xfrm>
          <a:prstGeom prst="roundRect">
            <a:avLst>
              <a:gd name="adj" fmla="val 369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954012" y="2423160"/>
            <a:ext cx="566928" cy="56692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0075" y="2559223"/>
            <a:ext cx="294803" cy="29480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998464" y="3200400"/>
            <a:ext cx="2478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자동 배포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6089904" y="3611880"/>
            <a:ext cx="22951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그대로 두면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빌드·배포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8476488" y="3291840"/>
            <a:ext cx="201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23" name="Shape 18"/>
          <p:cNvSpPr/>
          <p:nvPr/>
        </p:nvSpPr>
        <p:spPr>
          <a:xfrm>
            <a:off x="8677656" y="2103120"/>
            <a:ext cx="2478024" cy="3108960"/>
          </a:xfrm>
          <a:prstGeom prst="roundRect">
            <a:avLst>
              <a:gd name="adj" fmla="val 369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633204" y="2423160"/>
            <a:ext cx="566928" cy="566928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9267" y="2559223"/>
            <a:ext cx="294803" cy="294803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677656" y="3200400"/>
            <a:ext cx="2478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배포 URL 확인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8769096" y="3611880"/>
            <a:ext cx="22951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생성된 URL을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제출에 사용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실습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만든 템플릿에 직접 기능을 추가해봅니다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473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3주차 · Next.js 템플릿 프로젝트 설치·구조 이해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2269541"/>
            <a:ext cx="261518" cy="26151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13055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템플릿 설치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251960" y="213055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create-next-app으로 나만의 프로젝트 생성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306324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1" y="318394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304495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/about 페이지 추가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251960" y="304495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app/about/page.tsx를 만들어 두 번째 라우트 구현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397764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409834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71600" y="395935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Client Component 만들기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4251960" y="395935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useState를 쓰는 컴포넌트를 하나 직접 작성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40080" y="4892040"/>
            <a:ext cx="502920" cy="502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5012741"/>
            <a:ext cx="261518" cy="26151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71600" y="487375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Vercel 배포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4251960" y="4873752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Organization 레포에 push → Vercel 배포 URL 확보 (과제#1)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566928" cy="566928"/>
          </a:xfrm>
          <a:prstGeom prst="ellipse">
            <a:avLst/>
          </a:prstGeom>
          <a:solidFill>
            <a:srgbClr val="06B6D4">
              <a:alpha val="2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143" y="684703"/>
            <a:ext cx="294803" cy="294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3774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 안내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3063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4주차 · Next.js 핵심 기능 심화 (라우팅·데이터 페칭·Suspense)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3931920"/>
            <a:ext cx="384048" cy="384048"/>
          </a:xfrm>
          <a:prstGeom prst="ellipse">
            <a:avLst/>
          </a:prstGeom>
          <a:solidFill>
            <a:srgbClr val="06B6D4">
              <a:alpha val="20000"/>
            </a:srgbClr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252" y="4024092"/>
            <a:ext cx="199705" cy="19970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88720" y="39502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과제#1 — 템플릿 설치 + /about 페이지 + Vercel 배포 링크 제출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40080" y="4526280"/>
            <a:ext cx="384048" cy="384048"/>
          </a:xfrm>
          <a:prstGeom prst="ellipse">
            <a:avLst/>
          </a:prstGeom>
          <a:solidFill>
            <a:srgbClr val="06B6D4">
              <a:alpha val="20000"/>
            </a:srgbClr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52" y="4618452"/>
            <a:ext cx="199705" cy="19970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88720" y="454456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Organization의 assignments 레포에 오늘 만든 코드 push하기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64008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웹서버보안프로그래밍  ·  정보보호학과  ·  중부대학교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2026-08-19T07:36:54Z</dcterms:created>
  <dcterms:modified xsi:type="dcterms:W3CDTF">2026-08-19T07:36:54Z</dcterms:modified>
</cp:coreProperties>
</file>