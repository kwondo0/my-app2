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12주차 실습 강화판 · 주의: 취약 버전(before)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2860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웹보안 개론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42900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11주차 쇼핑몰에 일부러 남긴 취약점을 오늘은 직접 '공격'해봅니다. 절대 공개 배포하지 마세요.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035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웹서버보안프로그래밍 · 정보보호학과 · 중부대학교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493776" cy="292608"/>
          </a:xfrm>
          <a:prstGeom prst="roundRect">
            <a:avLst>
              <a:gd name="adj" fmla="val 50000"/>
            </a:avLst>
          </a:prstGeom>
          <a:solidFill>
            <a:srgbClr val="7F1D1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640080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필독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801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오늘은 절대 Vercel에 배포하지 마세요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2496312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334155"/>
          </a:solidFill>
          <a:ln w="19050">
            <a:solidFill>
              <a:srgbClr val="5EEAD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49631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2432304"/>
            <a:ext cx="10104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오늘의 template/은 교육용 취약 버전(before)입니다 — 실전 서비스 코드가 아닙니다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3136392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334155"/>
          </a:solidFill>
          <a:ln w="19050">
            <a:solidFill>
              <a:srgbClr val="5EEAD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31363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32688" y="3072384"/>
            <a:ext cx="10104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저장형 XSS와 시크릿 노출 취약점이 의도적으로 남아 있습니다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48640" y="3776472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334155"/>
          </a:solidFill>
          <a:ln w="19050">
            <a:solidFill>
              <a:srgbClr val="5EEAD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7764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32688" y="3712464"/>
            <a:ext cx="10104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로컬(localhost)에서만 실습하고, 공개 URL로는 절대 배포하지 않습니다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48640" y="4416552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334155"/>
          </a:solidFill>
          <a:ln w="19050">
            <a:solidFill>
              <a:srgbClr val="5EEAD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44165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32688" y="4352544"/>
            <a:ext cx="10104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13~14주차에 이 취약점들을 직접 고쳐서 안전한 버전(after)을 만듭니다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035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웹서버보안프로그래밍 · 정보보호학과 · 중부대학교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12주차 · OWASP 웹보안 개론 (취약 버전 재현)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오늘 3시간, 이렇게 진행합니다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이번 주는 '고치지 않습니다' — 재현하고 원인을 정확히 설명하는 것이 과제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837944"/>
            <a:ext cx="256032" cy="25603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78992" y="1728216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OWASP Top 10이란 (15분)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078992" y="2039112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암기 목록이 아니라 '내 코드에도 있을 수 있다'는 감각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432304"/>
            <a:ext cx="256032" cy="25603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78992" y="2322576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저장형 XSS 원리 (30분)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078992" y="2633472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왜 자동 이스케이프를 끄면 위험한가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026664"/>
            <a:ext cx="256032" cy="25603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78992" y="2916936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XSS 직접 재현 (30분)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078992" y="3227832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notices에 스크립트를 심고 실행되는 것을 직접 확인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3621024"/>
            <a:ext cx="256032" cy="25603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78992" y="3511296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시크릿 노출 원리 — 폴백 값 (20분)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078992" y="3822192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환경변수 없을 때 쓰는 하드코딩된 기본값의 위험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4215384"/>
            <a:ext cx="256032" cy="25603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078992" y="4105656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시크릿 노출 재현 — 디버그 엔드포인트 (20분)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078992" y="4416552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잊혀진 /api/debug/env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48640" y="4809744"/>
            <a:ext cx="256032" cy="25603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078992" y="4700016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 정적 분석의 한계 (20분)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078992" y="5010912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tsc/eslint가 왜 이 취약점들을 못 잡는가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48640" y="5404104"/>
            <a:ext cx="256032" cy="25603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78992" y="5294376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⑦ 재현 기록 + 제출 (25분)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078992" y="5605272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스크린샷 + 원인 설명 작성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1945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517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Top 10이란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118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암기 목록이 아니라 '내 코드에도 있을 수 있다'는 감각을 위한 것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12주차 · OWASP 웹보안 개론 (취약 버전 재현)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12주차 · OWASP 웹보안 개론 (취약 버전 재현)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개념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OWASP가 무엇이고 왜 참고하나요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Worldwide Application Security Project — 비영리 웹 보안 커뮤니티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347472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2219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Top 10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551176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가장 흔하고 위험한 웹 취약점 10가지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008376"/>
            <a:ext cx="292608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 세계 실제 침해 사고 데이터를 바탕으로 몇 년마다 갱신되는, 업계 표준 참고 목록입니다.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43400" y="1965960"/>
            <a:ext cx="347472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617720" y="22219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오늘 다루는 2가지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2551176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저장형 XSS, 민감 정보 노출(시크릿)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617720" y="3008376"/>
            <a:ext cx="292608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우리가 지금까지 만든 코드에도 실제로 넣을 수 있는, 아주 흔한 실수 패턴입니다.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138160" y="1965960"/>
            <a:ext cx="347472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8412480" y="22219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13~14주차 예고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2551176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NoSQL Injection, IDOR, Rate Limiting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412480" y="3008376"/>
            <a:ext cx="292608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학기 전체가 다루는 5종 중 나머지 3종을 이어서 다룹니다 (IDOR는 11주차에 이미 예고편을 봤습니다).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4572000"/>
            <a:ext cx="11064240" cy="1280160"/>
          </a:xfrm>
          <a:prstGeom prst="roundRect">
            <a:avLst>
              <a:gd name="adj" fmla="val 5714"/>
            </a:avLst>
          </a:prstGeom>
          <a:solidFill>
            <a:srgbClr val="ECFDF5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4400" y="475488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목표는 10가지를 외우는 게 아니라, "이런 패턴을 어디선가 봤을 때 위험을 알아채는 감각"을 기르는 것입니다 — 오늘부터는 그 감각을 우리 코드로 직접 체감합니다.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1945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517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저장형 XSS 원리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118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왜 '저장형'이 반사형보다 위험한가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12주차 · OWASP 웹보안 개론 (취약 버전 재현)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12주차 · OWASP 웹보안 개론 (취약 버전 재현)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개념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XSS(Cross-Site Scripting)란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공격자가 만든 스크립트가 다른 사용자의 브라우저에서 실행되는 것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642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754880"/>
                <a:gridCol w="338328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유형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스크립트가 저장되는 곳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파급력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반사형(Reflected)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URL 파라미터 (저장 안 됨)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악성 링크를 클릭한 사람만 피해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저장형(Stored) — 오늘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 (예: 공지사항 content)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그 글을 여는 모든 사람이 반복 피해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8640" y="402336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저장형은 링크를 보낼 필요조차 없습니다 — 공격자가 글 하나만 써두면, 그 이후로 그 글을 여는 모든 사용자(관리자 포함)의 브라우저에서 스크립트가 실행됩니다.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12주차 · OWASP 웹보안 개론 (취약 버전 재현)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개념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React의 자동 이스케이프 — 평소엔 안전한 이유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{content}로 렌더링하면 HTML 특수문자를 문자 그대로 표시합니다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2560320"/>
          </a:xfrm>
          <a:prstGeom prst="roundRect">
            <a:avLst>
              <a:gd name="adj" fmla="val 2857"/>
            </a:avLst>
          </a:prstGeom>
          <a:solidFill>
            <a:srgbClr val="0F172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48840"/>
            <a:ext cx="10424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안전한 렌더링 (5·9주차까지 계속 이렇게 썼습니다)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&lt;p&gt;{notice.content}&lt;/p&gt;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content가 &lt;script&gt;alert(1)&lt;/script&gt; 라면...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화면에는 문자 그대로 '&lt;script&gt;alert(1)&lt;/script&gt;'라는 텍스트가 보임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→ 스크립트로 실행되지 않고 그냥 글자로 표시됨 (안전)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548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지금까지 5·6·9주차에서 {notice.content}로 계속 렌더링해왔는데, 전혀 위험하지 않았던 이유가 바로 이 자동 이스케이프 때문입니다.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12주차 · OWASP 웹보안 개론 (취약 버전 재현)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그런데 오늘 코드는 이렇게 바뀌었습니다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app/notices/[id]/page.tsx — dangerouslySetInnerHTML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2194560"/>
          </a:xfrm>
          <a:prstGeom prst="roundRect">
            <a:avLst>
              <a:gd name="adj" fmla="val 3333"/>
            </a:avLst>
          </a:prstGeom>
          <a:solidFill>
            <a:srgbClr val="0F172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4884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12주차 취약 버전 — 줄바꿈을 &lt;br&gt;로 보여주려는 '좋은 의도'였지만...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dangerouslySetInnerHTML={{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__html: notice.content.replace(/\n/g, "&lt;br&gt;")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}}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/&gt;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4297680"/>
            <a:ext cx="11064240" cy="1463040"/>
          </a:xfrm>
          <a:prstGeom prst="roundRect">
            <a:avLst>
              <a:gd name="adj" fmla="val 5000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4480560"/>
            <a:ext cx="10332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dangerouslySetInnerHTML이라는 이름 자체가 경고입니다 — "위험하다는 걸 알고 써라"는 뜻입니다. 이 함수는 문자열을 이스케이프 없이 그대로 HTML로 해석시킵니다. &lt;script&gt; 태그도 예외가 아닙니다.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1945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517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XSS 직접 재현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118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직접 눈으로 확인해야 진짜로 이해됩니다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12주차 · OWASP 웹보안 개론 (취약 버전 재현)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12주차 · OWASP 웹보안 개론 (취약 버전 재현)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실습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저장형 XSS 재현 — 5단계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반드시 로컬(localhost)에서만 진행합니다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2008022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532888"/>
            <a:ext cx="16056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로그인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2880360"/>
            <a:ext cx="160568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7주차에 만든 계정으로 로그인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574950" y="1965960"/>
            <a:ext cx="21945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2812694" y="1965960"/>
            <a:ext cx="2008022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013862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3013862" y="2532888"/>
            <a:ext cx="16056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공지 작성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3013862" y="2880360"/>
            <a:ext cx="160568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/notices/new에서 제목은 아무거나, 내용에 스크립트 입력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839005" y="1965960"/>
            <a:ext cx="21945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5076749" y="1965960"/>
            <a:ext cx="2008022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277917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5277917" y="2532888"/>
            <a:ext cx="16056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스크립트 입력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5277917" y="2880360"/>
            <a:ext cx="160568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&lt;script&gt;alert(1)&lt;/script&gt; 를 내용란에 그대로 붙여넣기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7103059" y="1965960"/>
            <a:ext cx="21945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7340803" y="1965960"/>
            <a:ext cx="2008022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41971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7541971" y="2532888"/>
            <a:ext cx="16056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등록 → 상세 페이지 이동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7541971" y="2880360"/>
            <a:ext cx="160568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저장 성공 시 자동으로 그 글의 상세 페이지로 이동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9367114" y="1965960"/>
            <a:ext cx="21945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27" name="Shape 25"/>
          <p:cNvSpPr/>
          <p:nvPr/>
        </p:nvSpPr>
        <p:spPr>
          <a:xfrm>
            <a:off x="9604858" y="1965960"/>
            <a:ext cx="2008022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806026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29" name="Text 27"/>
          <p:cNvSpPr txBox="1"/>
          <p:nvPr/>
        </p:nvSpPr>
        <p:spPr>
          <a:xfrm>
            <a:off x="9806026" y="2532888"/>
            <a:ext cx="16056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경고창 확인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9806026" y="2880360"/>
            <a:ext cx="160568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alert(1) 팝업이 뜨면 취약점 재현 성공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42062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경고창이 뜨는 순간을 스크린샷으로 남겨두세요 — 오늘 과제 제출물입니다.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12주차 · OWASP 웹보안 개론 (취약 버전 재현)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생각해보기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alert(1)은 장난이지만, 진짜 공격자라면?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실제로는 훨씬 위험한 일을 할 수 있습니다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37210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221992"/>
            <a:ext cx="4823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세션 쿠키 탈취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551176"/>
            <a:ext cx="48234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document.cookie를 서버로 전송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008376"/>
            <a:ext cx="482346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AUTH_SECRET으로 서명된 세션 쿠키를 훔쳐서, 공격자가 그 사용자인 척 로그인 상태를 가로챌 수 있습니다.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40780" y="1965960"/>
            <a:ext cx="537210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515100" y="2221992"/>
            <a:ext cx="4823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관리자를 노림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515100" y="2551176"/>
            <a:ext cx="48234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관리자가 그 글을 열면?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515100" y="3008376"/>
            <a:ext cx="482346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관리자 권한으로 실행되는 스크립트는 admin 전용 기능(9주차의 삭제 등)을 관리자 몰래 대신 실행시킬 수 있습니다.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5720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이게 저장형 XSS가 반사형보다 위험한 이유입니다 — 공격자가 딱 한 번만 글을 쓰면, 그 이후로는 아무 대상이나 지나가서 열기만 해도 자동으로 걸립니다.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1945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517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시크릿 노출 (1) — 하드코딩된 폴백 값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118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환경변수가 없을 때 쓰는 '임시' 기본값의 위험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12주차 · OWASP 웹보안 개론 (취약 버전 재현)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12주차 · OWASP 웹보안 개론 (취약 버전 재현)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auth.ts — 바뀐 한 줄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"환경변수 설정을 깜빡해도 로컬에서 에러 안 나게 하려고" 넣은 폴백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1280160"/>
          </a:xfrm>
          <a:prstGeom prst="roundRect">
            <a:avLst>
              <a:gd name="adj" fmla="val 5714"/>
            </a:avLst>
          </a:prstGeom>
          <a:solidFill>
            <a:srgbClr val="0F172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4884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12주차 취약 버전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secret: process.env.AUTH_SECRET || "dev-secret-please-change-me",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383280"/>
            <a:ext cx="537210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22960" y="3639312"/>
            <a:ext cx="4823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의도(좋았던 것)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968496"/>
            <a:ext cx="48234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환경변수 안 채워도 로컬 개발이 안 죽게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425696"/>
            <a:ext cx="482346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7주차에 배운 대로 AUTH_SECRET이 없으면 MissingSecret 에러가 나는데, 그걸 피하려는 '편의' 코드였습니다.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40780" y="3383280"/>
            <a:ext cx="537210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515100" y="3639312"/>
            <a:ext cx="4823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위험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515100" y="3968496"/>
            <a:ext cx="48234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문자열 자체가 시크릿이 되어버림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515100" y="4425696"/>
            <a:ext cx="482346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GitHub에 올라간 코드에 이 값이 그대로 보입니다 — 세상 모든 사람이 이 '비밀 키'를 알게 됩니다.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12주차 · OWASP 웹보안 개론 (취약 버전 재현)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왜 위험한가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AUTH_SECRET이 유출되면 로그인 자체가 우회됩니다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7주차 복습: 이 값은 세션 쿠키(JWT)에 서명하는 키입니다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2574036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532888"/>
            <a:ext cx="2171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공격자가 GitHub에서 이 값을 봄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2880360"/>
            <a:ext cx="21717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dev-secret-please-change-me — 코드에 그대로 커밋되어 있음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3140964" y="1965960"/>
            <a:ext cx="21945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3378708" y="1965960"/>
            <a:ext cx="2574036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579876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3579876" y="2532888"/>
            <a:ext cx="2171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이 값으로 직접 JWT를 서명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3579876" y="2880360"/>
            <a:ext cx="21717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 id: "아무거나", role: "admin" } 내용의 토큰을 스스로 만듦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971032" y="1965960"/>
            <a:ext cx="21945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08776" y="1965960"/>
            <a:ext cx="2574036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9944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6409944" y="2532888"/>
            <a:ext cx="2171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그 토큰을 쿠키에 넣고 접속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6409944" y="2880360"/>
            <a:ext cx="21717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서버는 서명이 올바른지만 확인 — 값 자체를 의심하지 않음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8801100" y="1965960"/>
            <a:ext cx="21945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9038844" y="1965960"/>
            <a:ext cx="2574036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240012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9240012" y="2532888"/>
            <a:ext cx="2171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비밀번호 없이 admin 로그인 완료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9240012" y="2880360"/>
            <a:ext cx="21717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회원가입도, 로그인 시도도 전혀 필요 없음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48640" y="4160520"/>
            <a:ext cx="11064240" cy="1280160"/>
          </a:xfrm>
          <a:prstGeom prst="roundRect">
            <a:avLst>
              <a:gd name="adj" fmla="val 5714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14400" y="434340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이게 "비밀번호를 몰라도 로그인 자체를 우회한다"는 말의 정확한 의미입니다 — 9주차에 배운 role 기반 RBAC 전체가 이 한 줄로 무력화됩니다.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1945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517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시크릿 노출 (2) — 잊혀진 디버그 엔드포인트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118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"임시로만 켜뒀다가 지우는 걸 잊는" 흔한 실수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12주차 · OWASP 웹보안 개론 (취약 버전 재현)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12주차 · OWASP 웹보안 개론 (취약 버전 재현)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app/api/debug/env/route.ts — 신규 파일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인증 없이 환경변수를 그대로 JSON으로 응답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F172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03120"/>
            <a:ext cx="104241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🚨 배포 전에 환경변수가 잘 읽히는지 급하게 확인하려고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만들고 지우는 걸 잊어버린 디버그 엔드포인트라고 상상해보세요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async function GET() {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NextResponse.json({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MONGODB_URI: process.env.MONGODB_URI,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AUTH_SECRET: process.env.AUTH_SECRET,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NODE_ENV: process.env.NODE_ENV,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12주차 · OWASP 웹보안 개론 (취약 버전 재현)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실습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재현: /api/debug/env 접속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로그인하지 않은 상태로, 브라우저 주소창에 그대로 입력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2194560"/>
          </a:xfrm>
          <a:prstGeom prst="roundRect">
            <a:avLst>
              <a:gd name="adj" fmla="val 3333"/>
            </a:avLst>
          </a:prstGeom>
          <a:solidFill>
            <a:srgbClr val="0F172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4884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http://localhost:3000/api/debug/env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응답 예시: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{"MONGODB_URI":"mongodb+srv://...","AUTH_SECRET":"...","NODE_ENV":"development"}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434340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452628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MONGODB_URI에는 DB 접속 비밀번호가 통째로 들어있습니다 — 이 응답 하나로 우리 DB 전체를 누구나 읽고 쓸 수 있게 됩니다. 스크린샷을 남긴 뒤, 반드시 로컬에서만 확인했는지 다시 확인하세요.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12주차 · OWASP 웹보안 개론 (취약 버전 재현)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사고 패턴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이런 실수는 실무에서도 반복됩니다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개인 프로젝트든 대기업이든 원인은 똑같습니다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2574036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532888"/>
            <a:ext cx="2171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급한 디버깅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2880360"/>
            <a:ext cx="21717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"환경변수가 왜 안 읽히지?" 빨리 확인하려고 라우트를 하나 만듦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3140964" y="1965960"/>
            <a:ext cx="21945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3378708" y="1965960"/>
            <a:ext cx="2574036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579876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3579876" y="2532888"/>
            <a:ext cx="2171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확인 후 다음 작업으로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3579876" y="2880360"/>
            <a:ext cx="21717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 해결됐다고 만족하고 다른 기능 개발로 넘어감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971032" y="1965960"/>
            <a:ext cx="21945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08776" y="1965960"/>
            <a:ext cx="2574036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9944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6409944" y="2532888"/>
            <a:ext cx="2171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삭제를 깜빡함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6409944" y="2880360"/>
            <a:ext cx="21717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코드 리뷰에서도 "디버그용이니 괜찮겠지" 하고 넘어감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8801100" y="1965960"/>
            <a:ext cx="21945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9038844" y="1965960"/>
            <a:ext cx="2574036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240012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9240012" y="2532888"/>
            <a:ext cx="2171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배포됨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9240012" y="2880360"/>
            <a:ext cx="21717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서비스에 그대로 올라가 인터넷 어디서든 접근 가능해짐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1945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517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정적 분석의 한계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118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tsc·eslint가 왜 이 두 취약점을 못 잡는가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12주차 · OWASP 웹보안 개론 (취약 버전 재현)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12주차 · OWASP 웹보안 개론 (취약 버전 재현)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확인해보기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tsc/eslint를 돌려도 경고가 없습니다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이번 주의 핵심 포인트 — 두 취약점 모두 문법적으로는 완전히 정상 코드입니다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2011680"/>
          </a:xfrm>
          <a:prstGeom prst="roundRect">
            <a:avLst>
              <a:gd name="adj" fmla="val 3636"/>
            </a:avLst>
          </a:prstGeom>
          <a:solidFill>
            <a:srgbClr val="0F172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48840"/>
            <a:ext cx="10424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npx tsc --noEmit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에러 없음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npx eslint .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경고 없음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06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직접 실행해보세요 — 정말로 아무 경고도 안 뜹니다. dangerouslySetInnerHTML도, || 폴백 값도, 새 Route Handler도 문법적으로는 전혀 문제가 없기 때문입니다.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12주차 · OWASP 웹보안 개론 (취약 버전 재현)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왜 못 잡나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tsc와 eslint는 애초에 다른 걸 보는 도구입니다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'타입이 맞는가', '스타일이 일관적인가'와 '보안적으로 안전한가'는 다른 질문입니다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642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754880"/>
                <a:gridCol w="338328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도구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확인하는 것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보안 취약점 탐지?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tsc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타입이 선언과 일치하는가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아니오 — 타입은 맞아도 위험할 수 있음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eslint (기본 설정)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코드 스타일, 흔한 실수 패턴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아니오 — 보안 규칙은 기본 포함 안 됨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SAST 스캐너 (13~14주차)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알려진 취약 패턴 자동 탐지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예 — 이런 문제를 잡도록 설계됨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8640" y="44805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그래서 코드 리뷰, 보안 체크리스트, 전용 스캐너(SAST, Static Application Security Testing)가 정적 분석과는 별도로 필요합니다 — 13~14주차에 실제로 다뤄봅니다.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1945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517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재현 기록 + 제출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118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이번 주는 '고치지 않습니다' — 정확히 재현하고 설명하는 것이 과제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12주차 · OWASP 웹보안 개론 (취약 버전 재현)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12주차 · OWASP 웹보안 개론 (취약 버전 재현)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과제 #9 안내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이번 주는 코드를 고치지 않습니다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정확히 재현하고, 왜 위험한지 본인 말로 설명하는 것이 목표입니다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37210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221992"/>
            <a:ext cx="4823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왜 지금 안 고치나요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551176"/>
            <a:ext cx="48234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원인을 정확히 이해하는 게 먼저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008376"/>
            <a:ext cx="482346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고치는 방법(DOMPurify, 환경변수 필수화 등)은 13~14주차에 배웁니다. 오늘은 '무엇이, 왜' 위험한지에 집중합니다.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40780" y="1965960"/>
            <a:ext cx="537210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515100" y="2221992"/>
            <a:ext cx="4823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제출물 형태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515100" y="2551176"/>
            <a:ext cx="48234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스크린샷 + 원인 설명 (짧게)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515100" y="3008376"/>
            <a:ext cx="482346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각 취약점이 어느 파일, 어느 코드 때문에 생기는지 2~3문장으로 본인 말로 정리합니다.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12주차 · OWASP 웹보안 개론 (취약 버전 재현)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정리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오늘 실습 체크리스트 (과제 #9)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이번 주는 push하되, 절대 Vercel에 배포하지 않습니다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039112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03911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32688" y="1975104"/>
            <a:ext cx="10561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저장형 XSS를 재현하고 스크린샷으로 남기기 (&lt;script&gt;alert(1)&lt;/script&gt;)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2816352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8163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32688" y="2752344"/>
            <a:ext cx="10561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시크릿 노출(/api/debug/env)을 재현하고 스크린샷으로 남기기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3593592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5935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32688" y="3529584"/>
            <a:ext cx="10561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두 취약점이 각각 어느 파일·어느 코드 때문인지 짧게 설명 작성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48640" y="4370832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37083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932688" y="4306824"/>
            <a:ext cx="10561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레포에 재현 스크린샷+설명 push(.env.local 제외, 배포 없음) → submissions-2026에 repo_url·commit_sha PR 제출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48640" y="502920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4400" y="5193792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이번 주는 배포가 없으므로 submissions-2026 JSON의 deploy_url 칸엔 repo_url을 그대로 적어도 됩니다.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9144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주 안내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13주차 · 소스코드 보안 (직접 고치기)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031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오늘 재현한 XSS·시크릿 노출을 직접 고치고, NoSQL Injection까지 다룹니다 — before/after 브랜치로 비교합니다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3227832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334155"/>
          </a:solidFill>
          <a:ln w="19050">
            <a:solidFill>
              <a:srgbClr val="5EEAD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22783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3163824"/>
            <a:ext cx="9646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과제 #9 — 재현 스크린샷 + 원인 설명을 submissions-2026에 제출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3776472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334155"/>
          </a:solidFill>
          <a:ln w="19050">
            <a:solidFill>
              <a:srgbClr val="5EEAD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37764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32688" y="3712464"/>
            <a:ext cx="9646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오늘 왜 위험한지 이해했다면, 13주차의 '고치기'가 훨씬 수월합니다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035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웹서버보안프로그래밍 · 정보보호학과 · 중부대학교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2026-09-01T07:32:27Z</dcterms:created>
  <dcterms:modified xsi:type="dcterms:W3CDTF">2026-09-01T07:32:27Z</dcterms:modified>
</cp:coreProperties>
</file>