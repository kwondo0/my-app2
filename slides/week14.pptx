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48640"/>
            <a:ext cx="566928" cy="566928"/>
          </a:xfrm>
          <a:prstGeom prst="ellipse">
            <a:avLst/>
          </a:prstGeom>
          <a:solidFill>
            <a:srgbClr val="06B6D4">
              <a:alpha val="2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6143" y="684703"/>
            <a:ext cx="294803" cy="29480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23317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소스코드 레벨 보안 실습 II &amp; 풀스택 보안 거버넌스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640080" y="32004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취약점 Rate Limiting을 막고, 5종 취약점 실습을 총정리합니다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640080" y="41148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B6D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14주차 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12~14주차 보안 유닛의 마무리 — 개별 수정에서 팀의 습관으로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640080" y="6172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정보보호학과  ·  중부대학교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다룰 내용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133856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취약점을 막고, 5종 전체를 되돌아봅니다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647395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14주차 · 소스코드 레벨 보안 실습 II &amp; 보안 거버넌스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2103120"/>
            <a:ext cx="502920" cy="502920"/>
          </a:xfrm>
          <a:prstGeom prst="ellipse">
            <a:avLst/>
          </a:prstGeom>
          <a:solidFill>
            <a:srgbClr val="06B6D4">
              <a:alpha val="14000"/>
            </a:srgbClr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0781" y="2223821"/>
            <a:ext cx="261518" cy="26151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71600" y="208483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Rate Limiting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251960" y="2084832"/>
            <a:ext cx="6903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폼에 시도 횟수 제한을 추가합니다 (5종 중 마지막)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40080" y="3154680"/>
            <a:ext cx="502920" cy="502920"/>
          </a:xfrm>
          <a:prstGeom prst="ellipse">
            <a:avLst/>
          </a:prstGeom>
          <a:solidFill>
            <a:srgbClr val="06B6D4">
              <a:alpha val="14000"/>
            </a:srgbClr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781" y="3275381"/>
            <a:ext cx="261518" cy="26151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371600" y="313639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 헤더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4251960" y="3136392"/>
            <a:ext cx="6903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next.config.ts로 브라우저가 대신 막아주는 공격들을 켭니다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640080" y="4206240"/>
            <a:ext cx="502920" cy="502920"/>
          </a:xfrm>
          <a:prstGeom prst="ellipse">
            <a:avLst/>
          </a:prstGeom>
          <a:solidFill>
            <a:srgbClr val="06B6D4">
              <a:alpha val="14000"/>
            </a:srgbClr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0781" y="4326941"/>
            <a:ext cx="261518" cy="26151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371600" y="418795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풀스택 보안 거버넌스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4251960" y="4187952"/>
            <a:ext cx="6903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체크리스트·시크릿 스캐닝·코드 리뷰 — 도구가 아니라 습관</a:t>
            </a:r>
            <a:endParaRPr lang="en-US" sz="1250" dirty="0"/>
          </a:p>
        </p:txBody>
      </p:sp>
      <p:sp>
        <p:nvSpPr>
          <p:cNvPr id="17" name="Shape 12"/>
          <p:cNvSpPr/>
          <p:nvPr/>
        </p:nvSpPr>
        <p:spPr>
          <a:xfrm>
            <a:off x="640080" y="5257800"/>
            <a:ext cx="502920" cy="502920"/>
          </a:xfrm>
          <a:prstGeom prst="ellipse">
            <a:avLst/>
          </a:prstGeom>
          <a:solidFill>
            <a:srgbClr val="06B6D4">
              <a:alpha val="14000"/>
            </a:srgbClr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781" y="5378501"/>
            <a:ext cx="261518" cy="261518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371600" y="523951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5종 취약점 총정리</a:t>
            </a:r>
            <a:endParaRPr lang="en-US" sz="1400" dirty="0"/>
          </a:p>
        </p:txBody>
      </p:sp>
      <p:sp>
        <p:nvSpPr>
          <p:cNvPr id="20" name="Text 14"/>
          <p:cNvSpPr/>
          <p:nvPr/>
        </p:nvSpPr>
        <p:spPr>
          <a:xfrm>
            <a:off x="4251960" y="5239512"/>
            <a:ext cx="6903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12~14주차에 다룬 XSS부터 Rate Limiting까지 한 번에 복습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Rate Limiting이란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133856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"시도 횟수엔 제한이 없다"는 가정이 무너지는 순간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647395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14주차 · 소스코드 레벨 보안 실습 II &amp; 보안 거버넌스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2103120"/>
            <a:ext cx="502920" cy="502920"/>
          </a:xfrm>
          <a:prstGeom prst="ellipse">
            <a:avLst/>
          </a:prstGeom>
          <a:solidFill>
            <a:srgbClr val="DC2626">
              <a:alpha val="14000"/>
            </a:srgbClr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0781" y="2223821"/>
            <a:ext cx="261518" cy="26151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71600" y="208483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무차별 대입 공격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251960" y="2084832"/>
            <a:ext cx="6903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계정에 비밀번호를 자동화 스크립트로 수천 번 시도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40080" y="3154680"/>
            <a:ext cx="502920" cy="502920"/>
          </a:xfrm>
          <a:prstGeom prst="ellipse">
            <a:avLst/>
          </a:prstGeom>
          <a:solidFill>
            <a:srgbClr val="DC2626">
              <a:alpha val="14000"/>
            </a:srgbClr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781" y="3275381"/>
            <a:ext cx="261518" cy="26151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371600" y="313639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크리덴셜 스터핑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4251960" y="3136392"/>
            <a:ext cx="6903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사이트에서 유출된 이메일/비밀번호 조합을 대량으로 대입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640080" y="4206240"/>
            <a:ext cx="502920" cy="502920"/>
          </a:xfrm>
          <a:prstGeom prst="ellipse">
            <a:avLst/>
          </a:prstGeom>
          <a:solidFill>
            <a:srgbClr val="06B6D4">
              <a:alpha val="14000"/>
            </a:srgbClr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0781" y="4326941"/>
            <a:ext cx="261518" cy="26151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371600" y="418795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다룰 위치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4251960" y="4187952"/>
            <a:ext cx="6903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lib/rateLimit.ts — 1분에 5번까지만 로그인 시도를 허용합니다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1분에 5번 — 고정 윈도우 카운터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133856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lib/rateLimit.ts + lib/actions.ts의 loginAction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647395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14주차 · 소스코드 레벨 보안 실습 II &amp; 보안 거버넌스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10515600" cy="2377440"/>
          </a:xfrm>
          <a:prstGeom prst="roundRect">
            <a:avLst>
              <a:gd name="adj" fmla="val 3077"/>
            </a:avLst>
          </a:prstGeom>
          <a:solidFill>
            <a:srgbClr val="1E293B"/>
          </a:solidFill>
          <a:ln/>
          <a:effectLst>
            <a:outerShdw sx="100000" sy="100000" kx="0" ky="0" algn="bl" rotWithShape="0" blurRad="101600" dist="38100" dir="5400000">
              <a:srgbClr val="0F172A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96112" y="2167128"/>
            <a:ext cx="128016" cy="128016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7" name="Shape 5"/>
          <p:cNvSpPr/>
          <p:nvPr/>
        </p:nvSpPr>
        <p:spPr>
          <a:xfrm>
            <a:off x="1152144" y="2167128"/>
            <a:ext cx="128016" cy="12801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8" name="Shape 6"/>
          <p:cNvSpPr/>
          <p:nvPr/>
        </p:nvSpPr>
        <p:spPr>
          <a:xfrm>
            <a:off x="1408176" y="2167128"/>
            <a:ext cx="128016" cy="128016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2093976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lib/rateLimit.ts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32688" y="2514600"/>
            <a:ext cx="9966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WINDOW_MS = 60_000, MAX_ATTEMPTS = 5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932688" y="2843784"/>
            <a:ext cx="9966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buckets = new Map()</a:t>
            </a:r>
            <a:pPr indent="0" marL="0">
              <a:buNone/>
            </a:pPr>
            <a:r>
              <a:rPr lang="en-US" sz="1250" dirty="0">
                <a:solidFill>
                  <a:srgbClr val="16A3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이메일별 시도 횟수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932688" y="3172968"/>
            <a:ext cx="9966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(bucket.count &gt;= MAX_ATTEMPTS)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932688" y="3502152"/>
            <a:ext cx="9966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{ allowed: false, retryAfterSeconds }</a:t>
            </a:r>
            <a:pPr indent="0" marL="0">
              <a:buNone/>
            </a:pPr>
            <a:r>
              <a:rPr lang="en-US" sz="1250" dirty="0">
                <a:solidFill>
                  <a:srgbClr val="DC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초과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4572000"/>
            <a:ext cx="10515600" cy="1371600"/>
          </a:xfrm>
          <a:prstGeom prst="roundRect">
            <a:avLst>
              <a:gd name="adj" fmla="val 5333"/>
            </a:avLst>
          </a:prstGeom>
          <a:solidFill>
            <a:srgbClr val="1E293B"/>
          </a:solidFill>
          <a:ln/>
          <a:effectLst>
            <a:outerShdw sx="100000" sy="100000" kx="0" ky="0" algn="bl" rotWithShape="0" blurRad="101600" dist="38100" dir="5400000">
              <a:srgbClr val="0F172A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96112" y="4773168"/>
            <a:ext cx="128016" cy="128016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6" name="Shape 14"/>
          <p:cNvSpPr/>
          <p:nvPr/>
        </p:nvSpPr>
        <p:spPr>
          <a:xfrm>
            <a:off x="1152144" y="4773168"/>
            <a:ext cx="128016" cy="12801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7" name="Shape 15"/>
          <p:cNvSpPr/>
          <p:nvPr/>
        </p:nvSpPr>
        <p:spPr>
          <a:xfrm>
            <a:off x="1408176" y="4773168"/>
            <a:ext cx="128016" cy="128016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4700016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loginAction — signIn() 호출 '전'에 검사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32688" y="5120640"/>
            <a:ext cx="9966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{ allowed } = checkLoginRateLimit(email)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932688" y="5449824"/>
            <a:ext cx="9966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(!allowed) redirect("/login?error=ratelimited")</a:t>
            </a:r>
            <a:pPr indent="0" marL="0">
              <a:buNone/>
            </a:pPr>
            <a:r>
              <a:rPr lang="en-US" sz="1250" dirty="0">
                <a:solidFill>
                  <a:srgbClr val="16A3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DB조회 전에 차단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 헤더 — 코드가 아니라 응답으로 막는 공격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133856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next.config.ts의 headers()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647395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14주차 · 소스코드 레벨 보안 실습 II &amp; 보안 거버넌스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10515600" cy="2651760"/>
          </a:xfrm>
          <a:prstGeom prst="roundRect">
            <a:avLst>
              <a:gd name="adj" fmla="val 2759"/>
            </a:avLst>
          </a:prstGeom>
          <a:solidFill>
            <a:srgbClr val="1E293B"/>
          </a:solidFill>
          <a:ln/>
          <a:effectLst>
            <a:outerShdw sx="100000" sy="100000" kx="0" ky="0" algn="bl" rotWithShape="0" blurRad="101600" dist="38100" dir="5400000">
              <a:srgbClr val="0F172A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96112" y="2167128"/>
            <a:ext cx="128016" cy="128016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7" name="Shape 5"/>
          <p:cNvSpPr/>
          <p:nvPr/>
        </p:nvSpPr>
        <p:spPr>
          <a:xfrm>
            <a:off x="1152144" y="2167128"/>
            <a:ext cx="128016" cy="12801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8" name="Shape 6"/>
          <p:cNvSpPr/>
          <p:nvPr/>
        </p:nvSpPr>
        <p:spPr>
          <a:xfrm>
            <a:off x="1408176" y="2167128"/>
            <a:ext cx="128016" cy="128016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2093976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next.config.ts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32688" y="2514600"/>
            <a:ext cx="9966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 headers() {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932688" y="2843784"/>
            <a:ext cx="9966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[{ source: "/:path*", headers: [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932688" y="3172968"/>
            <a:ext cx="9966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 key: "X-Content-Type-Options", value: "nosniff" },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932688" y="3502152"/>
            <a:ext cx="9966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 key: "X-Frame-Options", value: "DENY" },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932688" y="3831336"/>
            <a:ext cx="9966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 key: "Referrer-Policy", value: "strict-origin-when-cross-origin" },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932688" y="4160520"/>
            <a:ext cx="9966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] }]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5029200"/>
            <a:ext cx="329184" cy="329184"/>
          </a:xfrm>
          <a:prstGeom prst="ellipse">
            <a:avLst/>
          </a:prstGeom>
          <a:solidFill>
            <a:srgbClr val="06B6D4">
              <a:alpha val="14000"/>
            </a:srgbClr>
          </a:solidFill>
          <a:ln/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9084" y="5108204"/>
            <a:ext cx="171176" cy="171176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1197864" y="5010912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X-Frame-Options: DENY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4078224" y="5010912"/>
            <a:ext cx="7077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클릭재킹(다른 사이트 iframe에 몰래 넣기) 방지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640080" y="5669280"/>
            <a:ext cx="329184" cy="329184"/>
          </a:xfrm>
          <a:prstGeom prst="ellipse">
            <a:avLst/>
          </a:prstGeom>
          <a:solidFill>
            <a:srgbClr val="06B6D4">
              <a:alpha val="14000"/>
            </a:srgbClr>
          </a:solidFill>
          <a:ln/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084" y="5748284"/>
            <a:ext cx="171176" cy="171176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1197864" y="5650992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X-Content-Type-Options: nosniff</a:t>
            </a:r>
            <a:endParaRPr lang="en-US" sz="1400" dirty="0"/>
          </a:p>
        </p:txBody>
      </p:sp>
      <p:sp>
        <p:nvSpPr>
          <p:cNvPr id="23" name="Text 19"/>
          <p:cNvSpPr/>
          <p:nvPr/>
        </p:nvSpPr>
        <p:spPr>
          <a:xfrm>
            <a:off x="4078224" y="5650992"/>
            <a:ext cx="7077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MIME 스니핑을 이용한 실행 방지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확인해봅니다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133856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/login에서 비밀번호를 일부러 6번 틀려보세요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647395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14주차 · 소스코드 레벨 보안 실습 II &amp; 보안 거버넌스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2103120"/>
            <a:ext cx="475488" cy="475488"/>
          </a:xfrm>
          <a:prstGeom prst="ellipse">
            <a:avLst/>
          </a:prstGeom>
          <a:solidFill>
            <a:srgbClr val="06B6D4">
              <a:alpha val="14000"/>
            </a:srgbClr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197" y="2217237"/>
            <a:ext cx="247254" cy="24725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44168" y="2084832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1~5번째 시도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224528" y="2084832"/>
            <a:ext cx="6931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"이메일 또는 비밀번호가 올바르지 않습니다" — 평소와 같은 에러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40080" y="3108960"/>
            <a:ext cx="475488" cy="475488"/>
          </a:xfrm>
          <a:prstGeom prst="ellipse">
            <a:avLst/>
          </a:prstGeom>
          <a:solidFill>
            <a:srgbClr val="DC2626">
              <a:alpha val="14000"/>
            </a:srgbClr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197" y="3223077"/>
            <a:ext cx="247254" cy="24725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344168" y="3090672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6번째 시도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4224528" y="3090672"/>
            <a:ext cx="6931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"로그인 시도가 너무 많습니다. 60초 후 다시 시도해주세요" — DB 조회 없이 즉시 차단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640080" y="4114800"/>
            <a:ext cx="475488" cy="475488"/>
          </a:xfrm>
          <a:prstGeom prst="ellipse">
            <a:avLst/>
          </a:prstGeom>
          <a:solidFill>
            <a:srgbClr val="06B6D4">
              <a:alpha val="14000"/>
            </a:srgbClr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197" y="4228917"/>
            <a:ext cx="247254" cy="24725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344168" y="4096512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헤더 확인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4224528" y="4096512"/>
            <a:ext cx="6931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브라우저 개발자도구 Network 탭에서 응답 헤더에 X-Frame-Options 등이 붙어있는지 확인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풀스택 보안 거버넌스 — 도구가 아니라 습관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133856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혼자 완벽한 코드를 짜는 것보다, 팀이 놓치지 않는 구조를 만드는 것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647395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14주차 · 소스코드 레벨 보안 실습 II &amp; 보안 거버넌스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2103120"/>
            <a:ext cx="2478024" cy="3291840"/>
          </a:xfrm>
          <a:prstGeom prst="roundRect">
            <a:avLst>
              <a:gd name="adj" fmla="val 369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94A3B8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595628" y="2423160"/>
            <a:ext cx="566928" cy="566928"/>
          </a:xfrm>
          <a:prstGeom prst="ellipse">
            <a:avLst/>
          </a:prstGeom>
          <a:solidFill>
            <a:srgbClr val="06B6D4">
              <a:alpha val="14000"/>
            </a:srgbClr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31691" y="2559223"/>
            <a:ext cx="294803" cy="29480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" y="3200400"/>
            <a:ext cx="2478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 체크리스트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731520" y="3611880"/>
            <a:ext cx="229514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 템플릿에</a:t>
            </a:r>
            <a:endParaRPr lang="en-US" sz="12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"입력 검증했는가?"</a:t>
            </a:r>
            <a:endParaRPr lang="en-US" sz="12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항목 포함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319272" y="2103120"/>
            <a:ext cx="2478024" cy="3291840"/>
          </a:xfrm>
          <a:prstGeom prst="roundRect">
            <a:avLst>
              <a:gd name="adj" fmla="val 369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94A3B8">
                <a:alpha val="2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274820" y="2423160"/>
            <a:ext cx="566928" cy="566928"/>
          </a:xfrm>
          <a:prstGeom prst="ellipse">
            <a:avLst/>
          </a:prstGeom>
          <a:solidFill>
            <a:srgbClr val="06B6D4">
              <a:alpha val="14000"/>
            </a:srgbClr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0883" y="2559223"/>
            <a:ext cx="294803" cy="294803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319272" y="3200400"/>
            <a:ext cx="2478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시크릿 스캐닝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3410712" y="3611880"/>
            <a:ext cx="229514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gitleaks, GitHub</a:t>
            </a:r>
            <a:endParaRPr lang="en-US" sz="12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Secret Scanning —</a:t>
            </a:r>
            <a:endParaRPr lang="en-US" sz="12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커밋 전/후 자동 탐지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5998464" y="2103120"/>
            <a:ext cx="2478024" cy="3291840"/>
          </a:xfrm>
          <a:prstGeom prst="roundRect">
            <a:avLst>
              <a:gd name="adj" fmla="val 369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94A3B8">
                <a:alpha val="25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954012" y="2423160"/>
            <a:ext cx="566928" cy="566928"/>
          </a:xfrm>
          <a:prstGeom prst="ellipse">
            <a:avLst/>
          </a:prstGeom>
          <a:solidFill>
            <a:srgbClr val="06B6D4">
              <a:alpha val="14000"/>
            </a:srgbClr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0075" y="2559223"/>
            <a:ext cx="294803" cy="294803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5998464" y="3200400"/>
            <a:ext cx="2478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리뷰</a:t>
            </a:r>
            <a:endParaRPr lang="en-US" sz="1500" dirty="0"/>
          </a:p>
        </p:txBody>
      </p:sp>
      <p:sp>
        <p:nvSpPr>
          <p:cNvPr id="19" name="Text 14"/>
          <p:cNvSpPr/>
          <p:nvPr/>
        </p:nvSpPr>
        <p:spPr>
          <a:xfrm>
            <a:off x="6089904" y="3611880"/>
            <a:ext cx="229514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정적 분석이 못 보는</a:t>
            </a:r>
            <a:endParaRPr lang="en-US" sz="12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걸 사람이 본다</a:t>
            </a:r>
            <a:endParaRPr lang="en-US" sz="12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(12주차 핵심 교훈)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8677656" y="2103120"/>
            <a:ext cx="2478024" cy="3291840"/>
          </a:xfrm>
          <a:prstGeom prst="roundRect">
            <a:avLst>
              <a:gd name="adj" fmla="val 369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94A3B8">
                <a:alpha val="25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633204" y="2423160"/>
            <a:ext cx="566928" cy="566928"/>
          </a:xfrm>
          <a:prstGeom prst="ellipse">
            <a:avLst/>
          </a:prstGeom>
          <a:solidFill>
            <a:srgbClr val="06B6D4">
              <a:alpha val="14000"/>
            </a:srgbClr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69267" y="2559223"/>
            <a:ext cx="294803" cy="294803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8677656" y="3200400"/>
            <a:ext cx="2478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정기 점검</a:t>
            </a:r>
            <a:endParaRPr lang="en-US" sz="1500" dirty="0"/>
          </a:p>
        </p:txBody>
      </p:sp>
      <p:sp>
        <p:nvSpPr>
          <p:cNvPr id="24" name="Text 18"/>
          <p:cNvSpPr/>
          <p:nvPr/>
        </p:nvSpPr>
        <p:spPr>
          <a:xfrm>
            <a:off x="8769096" y="3611880"/>
            <a:ext cx="229514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의존성 취약점</a:t>
            </a:r>
            <a:endParaRPr lang="en-US" sz="12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(npm audit) 주기적</a:t>
            </a:r>
            <a:endParaRPr lang="en-US" sz="12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12~14주차 5종 취약점 총정리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133856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10~11주차 쇼핑몰 프로젝트를 기반으로 모두 실제 코드로 다뤘습니다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647395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14주차 · 소스코드 레벨 보안 실습 II &amp; 보안 거버넌스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1942186" cy="3383280"/>
          </a:xfrm>
          <a:prstGeom prst="roundRect">
            <a:avLst>
              <a:gd name="adj" fmla="val 4708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94A3B8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327709" y="2331720"/>
            <a:ext cx="566928" cy="566928"/>
          </a:xfrm>
          <a:prstGeom prst="ellipse">
            <a:avLst/>
          </a:prstGeom>
          <a:solidFill>
            <a:srgbClr val="06B6D4">
              <a:alpha val="14000"/>
            </a:srgbClr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3772" y="2467783"/>
            <a:ext cx="294803" cy="29480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" y="3108960"/>
            <a:ext cx="19421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XSS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731520" y="3520440"/>
            <a:ext cx="175930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저장형 XSS</a:t>
            </a:r>
            <a:endParaRPr lang="en-US" sz="12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✅ 13주차 수정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2783434" y="2011680"/>
            <a:ext cx="1942186" cy="3383280"/>
          </a:xfrm>
          <a:prstGeom prst="roundRect">
            <a:avLst>
              <a:gd name="adj" fmla="val 4708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94A3B8">
                <a:alpha val="2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471062" y="2331720"/>
            <a:ext cx="566928" cy="566928"/>
          </a:xfrm>
          <a:prstGeom prst="ellipse">
            <a:avLst/>
          </a:prstGeom>
          <a:solidFill>
            <a:srgbClr val="06B6D4">
              <a:alpha val="14000"/>
            </a:srgbClr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7125" y="2467783"/>
            <a:ext cx="294803" cy="294803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2783434" y="3108960"/>
            <a:ext cx="19421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시크릿 관리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2874874" y="3520440"/>
            <a:ext cx="175930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fail-fast +</a:t>
            </a:r>
            <a:endParaRPr lang="en-US" sz="12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✅ 13주차 수정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4926787" y="2011680"/>
            <a:ext cx="1942186" cy="3383280"/>
          </a:xfrm>
          <a:prstGeom prst="roundRect">
            <a:avLst>
              <a:gd name="adj" fmla="val 4708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94A3B8">
                <a:alpha val="25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5614416" y="2331720"/>
            <a:ext cx="566928" cy="566928"/>
          </a:xfrm>
          <a:prstGeom prst="ellipse">
            <a:avLst/>
          </a:prstGeom>
          <a:solidFill>
            <a:srgbClr val="06B6D4">
              <a:alpha val="14000"/>
            </a:srgbClr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0479" y="2467783"/>
            <a:ext cx="294803" cy="294803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4926787" y="3108960"/>
            <a:ext cx="19421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NoSQL Injection</a:t>
            </a:r>
            <a:endParaRPr lang="en-US" sz="1500" dirty="0"/>
          </a:p>
        </p:txBody>
      </p:sp>
      <p:sp>
        <p:nvSpPr>
          <p:cNvPr id="19" name="Text 14"/>
          <p:cNvSpPr/>
          <p:nvPr/>
        </p:nvSpPr>
        <p:spPr>
          <a:xfrm>
            <a:off x="5018227" y="3520440"/>
            <a:ext cx="175930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이스케이프</a:t>
            </a:r>
            <a:endParaRPr lang="en-US" sz="12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✅ 13주차 방어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7070141" y="2011680"/>
            <a:ext cx="1942186" cy="3383280"/>
          </a:xfrm>
          <a:prstGeom prst="roundRect">
            <a:avLst>
              <a:gd name="adj" fmla="val 4708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94A3B8">
                <a:alpha val="25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7757770" y="2331720"/>
            <a:ext cx="566928" cy="566928"/>
          </a:xfrm>
          <a:prstGeom prst="ellipse">
            <a:avLst/>
          </a:prstGeom>
          <a:solidFill>
            <a:srgbClr val="06B6D4">
              <a:alpha val="14000"/>
            </a:srgbClr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93832" y="2467783"/>
            <a:ext cx="294803" cy="294803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070141" y="3108960"/>
            <a:ext cx="19421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IDOR</a:t>
            </a:r>
            <a:endParaRPr lang="en-US" sz="1500" dirty="0"/>
          </a:p>
        </p:txBody>
      </p:sp>
      <p:sp>
        <p:nvSpPr>
          <p:cNvPr id="24" name="Text 18"/>
          <p:cNvSpPr/>
          <p:nvPr/>
        </p:nvSpPr>
        <p:spPr>
          <a:xfrm>
            <a:off x="7161581" y="3520440"/>
            <a:ext cx="175930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소유권 검사</a:t>
            </a:r>
            <a:endParaRPr lang="en-US" sz="12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✅ 11·13주차</a:t>
            </a:r>
            <a:endParaRPr lang="en-US" sz="1250" dirty="0"/>
          </a:p>
        </p:txBody>
      </p:sp>
      <p:sp>
        <p:nvSpPr>
          <p:cNvPr id="25" name="Shape 19"/>
          <p:cNvSpPr/>
          <p:nvPr/>
        </p:nvSpPr>
        <p:spPr>
          <a:xfrm>
            <a:off x="9213494" y="2011680"/>
            <a:ext cx="1942186" cy="3383280"/>
          </a:xfrm>
          <a:prstGeom prst="roundRect">
            <a:avLst>
              <a:gd name="adj" fmla="val 4708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94A3B8">
                <a:alpha val="25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9901123" y="2331720"/>
            <a:ext cx="566928" cy="566928"/>
          </a:xfrm>
          <a:prstGeom prst="ellipse">
            <a:avLst/>
          </a:prstGeom>
          <a:solidFill>
            <a:srgbClr val="06B6D4">
              <a:alpha val="14000"/>
            </a:srgbClr>
          </a:solidFill>
          <a:ln/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37186" y="2467783"/>
            <a:ext cx="294803" cy="294803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9213494" y="3108960"/>
            <a:ext cx="19421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Rate Limiting</a:t>
            </a:r>
            <a:endParaRPr lang="en-US" sz="1500" dirty="0"/>
          </a:p>
        </p:txBody>
      </p:sp>
      <p:sp>
        <p:nvSpPr>
          <p:cNvPr id="29" name="Text 22"/>
          <p:cNvSpPr/>
          <p:nvPr/>
        </p:nvSpPr>
        <p:spPr>
          <a:xfrm>
            <a:off x="9304934" y="3520440"/>
            <a:ext cx="175930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 제한+헤더</a:t>
            </a:r>
            <a:endParaRPr lang="en-US" sz="12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✅ 14주차 방어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주 체크리스트 (과제 #11)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647395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14주차 · 소스코드 레벨 보안 실습 II &amp; 보안 거버넌스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457200" cy="457200"/>
          </a:xfrm>
          <a:prstGeom prst="ellipse">
            <a:avLst/>
          </a:prstGeom>
          <a:solidFill>
            <a:srgbClr val="06B6D4">
              <a:alpha val="14000"/>
            </a:srgbClr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2212848"/>
            <a:ext cx="237744" cy="23774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25880" y="208483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6회 연속 시도해보고 6번째에 차단되는지 확인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206240" y="2084832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"로그인 시도가 너무 많습니다" 메시지와 함께 60초 대기 안내가 뜨는지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40080" y="3108960"/>
            <a:ext cx="457200" cy="457200"/>
          </a:xfrm>
          <a:prstGeom prst="ellipse">
            <a:avLst/>
          </a:prstGeom>
          <a:solidFill>
            <a:srgbClr val="06B6D4">
              <a:alpha val="14000"/>
            </a:srgbClr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3218688"/>
            <a:ext cx="237744" cy="23774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325880" y="309067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curl -I 나 개발자도구로 보안 헤더 확인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4206240" y="3090672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X-Content-Type-Options, X-Frame-Options, Referrer-Policy가 응답에 붙어있는지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640080" y="4114800"/>
            <a:ext cx="457200" cy="457200"/>
          </a:xfrm>
          <a:prstGeom prst="ellipse">
            <a:avLst/>
          </a:prstGeom>
          <a:solidFill>
            <a:srgbClr val="06B6D4">
              <a:alpha val="14000"/>
            </a:srgbClr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4224528"/>
            <a:ext cx="237744" cy="23774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325880" y="409651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12~14주차 5종 취약점을 표로 정리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4206240" y="4096512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취약점 이름 · 원인 파일 · 수정 방법을 한 줄씩 요약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640080" y="5120640"/>
            <a:ext cx="457200" cy="457200"/>
          </a:xfrm>
          <a:prstGeom prst="ellipse">
            <a:avLst/>
          </a:prstGeom>
          <a:solidFill>
            <a:srgbClr val="06B6D4">
              <a:alpha val="14000"/>
            </a:srgbClr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5230368"/>
            <a:ext cx="237744" cy="23774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325880" y="510235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gitleaks(또는 유사 도구)로 본인 레포 스캔해보기</a:t>
            </a:r>
            <a:endParaRPr lang="en-US" sz="1400" dirty="0"/>
          </a:p>
        </p:txBody>
      </p:sp>
      <p:sp>
        <p:nvSpPr>
          <p:cNvPr id="19" name="Text 13"/>
          <p:cNvSpPr/>
          <p:nvPr/>
        </p:nvSpPr>
        <p:spPr>
          <a:xfrm>
            <a:off x="4206240" y="5102352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실제로 시크릿이 커밋된 이력이 있는지 한 번쯤 확인</a:t>
            </a:r>
            <a:endParaRPr lang="en-US" sz="1250" dirty="0"/>
          </a:p>
        </p:txBody>
      </p:sp>
      <p:sp>
        <p:nvSpPr>
          <p:cNvPr id="20" name="Shape 14"/>
          <p:cNvSpPr/>
          <p:nvPr/>
        </p:nvSpPr>
        <p:spPr>
          <a:xfrm>
            <a:off x="640080" y="6126480"/>
            <a:ext cx="457200" cy="457200"/>
          </a:xfrm>
          <a:prstGeom prst="ellipse">
            <a:avLst/>
          </a:prstGeom>
          <a:solidFill>
            <a:srgbClr val="06B6D4">
              <a:alpha val="14000"/>
            </a:srgbClr>
          </a:solidFill>
          <a:ln/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808" y="6236208"/>
            <a:ext cx="237744" cy="237744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1325880" y="610819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제출</a:t>
            </a:r>
            <a:endParaRPr lang="en-US" sz="1400" dirty="0"/>
          </a:p>
        </p:txBody>
      </p:sp>
      <p:sp>
        <p:nvSpPr>
          <p:cNvPr id="23" name="Text 16"/>
          <p:cNvSpPr/>
          <p:nvPr/>
        </p:nvSpPr>
        <p:spPr>
          <a:xfrm>
            <a:off x="4206240" y="6108192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assignments-&lt;학번&gt;/week14/ push + 5종 취약점 정리표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48640"/>
            <a:ext cx="566928" cy="566928"/>
          </a:xfrm>
          <a:prstGeom prst="ellipse">
            <a:avLst/>
          </a:prstGeom>
          <a:solidFill>
            <a:srgbClr val="06B6D4">
              <a:alpha val="2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6143" y="684703"/>
            <a:ext cx="294803" cy="29480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237744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주 안내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640080" y="30632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15주차 · 최종 발표 &amp; 총정리 — 한 학기 동안 만든 것을 돌아봅니다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640080" y="3931920"/>
            <a:ext cx="384048" cy="384048"/>
          </a:xfrm>
          <a:prstGeom prst="ellipse">
            <a:avLst/>
          </a:prstGeom>
          <a:solidFill>
            <a:srgbClr val="06B6D4">
              <a:alpha val="20000"/>
            </a:srgbClr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2252" y="4024092"/>
            <a:ext cx="199705" cy="199705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188720" y="39502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#11 — Rate Limiting/보안 헤더 확인 + 5종 취약점 정리표 + gitleaks 스캔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640080" y="4526280"/>
            <a:ext cx="384048" cy="384048"/>
          </a:xfrm>
          <a:prstGeom prst="ellipse">
            <a:avLst/>
          </a:prstGeom>
          <a:solidFill>
            <a:srgbClr val="06B6D4">
              <a:alpha val="20000"/>
            </a:srgbClr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252" y="4618452"/>
            <a:ext cx="199705" cy="199705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188720" y="454456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15주차는 새 코드 없이, 팀별 최종 발표와 전체 학기 총정리로 마무리합니다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64008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웹서버보안프로그래밍  ·  정보보호학과  ·  중부대학교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2026-08-19T11:43:17Z</dcterms:created>
  <dcterms:modified xsi:type="dcterms:W3CDTF">2026-08-19T11:43:17Z</dcterms:modified>
</cp:coreProperties>
</file>